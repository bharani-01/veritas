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6"/>
    <p:sldId id="260" r:id="rId7"/>
    <p:sldId id="261" r:id="rId8"/>
    <p:sldId id="264" r:id="rId9"/>
    <p:sldId id="268" r:id="rId10"/>
    <p:sldId id="26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856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D334350F-719D-37AD-9A21-A5ABCF99F392}"/>
              </a:ext>
            </a:extLst>
          </p:cNvPr>
          <p:cNvSpPr txBox="1"/>
          <p:nvPr/>
        </p:nvSpPr>
        <p:spPr>
          <a:xfrm>
            <a:off x="731520" y="2926080"/>
            <a:ext cx="10725912" cy="2103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105000"/>
              </a:lnSpc>
              <a:spcBef>
                <a:spcPct val="0"/>
              </a:spcBef>
              <a:spcAft>
                <a:spcPts val="1200"/>
              </a:spcAft>
              <a:defRPr sz="2800" b="1">
                <a:solidFill>
                  <a:srgbClr val="000000"/>
                </a:solidFill>
                <a:latin typeface="Segoe UI"/>
              </a:defRPr>
            </a:pPr>
            <a:r>
              <a:rPr sz="2800" b="1">
                <a:solidFill>
                  <a:srgbClr val="000000"/>
                </a:solidFill>
                <a:latin typeface="ADLaM Display"/>
              </a:rPr>
              <a:t>AI based Vulnerability detection and Risk assessment for Web Apps and Websites</a:t>
            </a:r>
          </a:p>
        </p:txBody>
      </p:sp>
      <p:pic>
        <p:nvPicPr>
          <p:cNvPr id="17" name="Picture 16" descr="college_logo.png">
            <a:extLst>
              <a:ext uri="{FF2B5EF4-FFF2-40B4-BE49-F238E27FC236}">
                <a16:creationId xmlns:a16="http://schemas.microsoft.com/office/drawing/2014/main" id="{DA939F32-88BD-A1A6-A96A-E67E51A64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818" y="281900"/>
            <a:ext cx="8457795" cy="145135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893C7B5-B6B6-976C-50B8-87A251AEF198}"/>
              </a:ext>
            </a:extLst>
          </p:cNvPr>
          <p:cNvSpPr txBox="1"/>
          <p:nvPr/>
        </p:nvSpPr>
        <p:spPr>
          <a:xfrm>
            <a:off x="6858000" y="5303520"/>
            <a:ext cx="4572000" cy="12801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400"/>
              </a:spcAft>
            </a:pPr>
            <a:r>
              <a:rPr sz="1300" b="1" dirty="0">
                <a:solidFill>
                  <a:srgbClr val="000000"/>
                </a:solidFill>
                <a:latin typeface="Segoe UI"/>
              </a:rPr>
              <a:t>Swaminathan GL (E0224033)</a:t>
            </a:r>
          </a:p>
          <a:p>
            <a:pPr algn="r">
              <a:spcAft>
                <a:spcPts val="400"/>
              </a:spcAft>
            </a:pPr>
            <a:r>
              <a:rPr sz="1300" b="1" dirty="0">
                <a:solidFill>
                  <a:srgbClr val="000000"/>
                </a:solidFill>
                <a:latin typeface="Segoe UI"/>
              </a:rPr>
              <a:t>Bharani KR (E0224035)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F8E7ED-46BA-B67D-C845-92274A79F107}"/>
              </a:ext>
            </a:extLst>
          </p:cNvPr>
          <p:cNvSpPr txBox="1"/>
          <p:nvPr/>
        </p:nvSpPr>
        <p:spPr>
          <a:xfrm>
            <a:off x="1371599" y="2423160"/>
            <a:ext cx="94987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1400" b="1" dirty="0">
                <a:solidFill>
                  <a:srgbClr val="DC2626"/>
                </a:solidFill>
                <a:latin typeface="ADLaM Display"/>
              </a:rPr>
              <a:t>CYB23DLU02</a:t>
            </a:r>
            <a:r>
              <a:rPr sz="1400" b="1" dirty="0">
                <a:solidFill>
                  <a:srgbClr val="000000"/>
                </a:solidFill>
                <a:latin typeface="ADLaM Display"/>
              </a:rPr>
              <a:t> - INFORMATION SECURITY LABORATORY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00000"/>
                </a:solidFill>
                <a:latin typeface="ADLaM Display"/>
              </a:defRPr>
            </a:pPr>
            <a:r>
              <a:t>Introduction: Modern Web Security &amp; AI-Driven Triage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3375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00000"/>
                </a:solidFill>
                <a:latin typeface="ADLaM Display"/>
              </a:rPr>
              <a:t>01 / Expanding Attack Surface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00000"/>
                </a:solidFill>
                <a:latin typeface="Times New Roman"/>
              </a:rPr>
              <a:t>API Sprawl &amp; Modern SPAs
</a:t>
            </a:r>
            <a:r>
              <a:rPr sz="950" b="0">
                <a:solidFill>
                  <a:srgbClr val="334155"/>
                </a:solidFill>
                <a:latin typeface="Times New Roman"/>
              </a:rPr>
              <a:t>Modern web architectures rely on distributed APIs and heavy JavaScript client-side rendering, drastically expanding unmapped attack surfaces.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00000"/>
                </a:solidFill>
                <a:latin typeface="Times New Roman"/>
              </a:rPr>
              <a:t>Rapid CI/CD Code Churn
</a:t>
            </a:r>
            <a:r>
              <a:rPr sz="950" b="0">
                <a:solidFill>
                  <a:srgbClr val="334155"/>
                </a:solidFill>
                <a:latin typeface="Times New Roman"/>
              </a:rPr>
              <a:t>High-velocity delivery pipelines push untested code changes and multi-branch merges daily, outpacing traditional manual security reviews.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00000"/>
                </a:solidFill>
                <a:latin typeface="Times New Roman"/>
              </a:rPr>
              <a:t>Dependency Proliferation
</a:t>
            </a:r>
            <a:r>
              <a:rPr sz="950" b="0">
                <a:solidFill>
                  <a:srgbClr val="334155"/>
                </a:solidFill>
                <a:latin typeface="Times New Roman"/>
              </a:rPr>
              <a:t>Over 85% of modern web codebases consist of third-party dependencies and open-source packages containing unpatched known exploits.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16552" y="1463040"/>
            <a:ext cx="33375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00000"/>
                </a:solidFill>
                <a:latin typeface="ADLaM Display"/>
              </a:rPr>
              <a:t>02 / Legacy Scanner Pitfalls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00000"/>
                </a:solidFill>
                <a:latin typeface="Times New Roman"/>
              </a:rPr>
              <a:t>Isolated Security Silos
</a:t>
            </a:r>
            <a:r>
              <a:rPr sz="950" b="0">
                <a:solidFill>
                  <a:srgbClr val="334155"/>
                </a:solidFill>
                <a:latin typeface="Times New Roman"/>
              </a:rPr>
              <a:t>Static analysis (SAST), software composition analysis (SCA), and secret detection tools operate in isolation, generating disjointed reports.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00000"/>
                </a:solidFill>
                <a:latin typeface="Times New Roman"/>
              </a:rPr>
              <a:t>Alert Fatigue &amp; False Positives
</a:t>
            </a:r>
            <a:r>
              <a:rPr sz="950" b="0">
                <a:solidFill>
                  <a:srgbClr val="334155"/>
                </a:solidFill>
                <a:latin typeface="Times New Roman"/>
              </a:rPr>
              <a:t>Deterministic scanners produce massive volumes of redundant alerts without context, overwhelming developer triage capacity.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00000"/>
                </a:solidFill>
                <a:latin typeface="Times New Roman"/>
              </a:rPr>
              <a:t>Actionable Patch Void
</a:t>
            </a:r>
            <a:r>
              <a:rPr sz="950" b="0">
                <a:solidFill>
                  <a:srgbClr val="334155"/>
                </a:solidFill>
                <a:latin typeface="Times New Roman"/>
              </a:rPr>
              <a:t>Legacy tools flag vulnerabilities with generic descriptions but fail to provide framework-specific, line-level remediation patches.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1583" y="1463040"/>
            <a:ext cx="33375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00000"/>
                </a:solidFill>
                <a:latin typeface="ADLaM Display"/>
              </a:rPr>
              <a:t>03 / The VERITAS Paradigm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00000"/>
                </a:solidFill>
                <a:latin typeface="Times New Roman"/>
              </a:rPr>
              <a:t>Unified Orchestration Stack
</a:t>
            </a:r>
            <a:r>
              <a:rPr sz="950" b="0">
                <a:solidFill>
                  <a:srgbClr val="334155"/>
                </a:solidFill>
                <a:latin typeface="Times New Roman"/>
              </a:rPr>
              <a:t>Coordinates 12+ deterministic security scanners under a single-server FastAPI backend with zero-overhead ephemeral cloning.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00000"/>
                </a:solidFill>
                <a:latin typeface="Times New Roman"/>
              </a:rPr>
              <a:t>Threat-Informed Prioritization
</a:t>
            </a:r>
            <a:r>
              <a:rPr sz="950" b="0">
                <a:solidFill>
                  <a:srgbClr val="334155"/>
                </a:solidFill>
                <a:latin typeface="Times New Roman"/>
              </a:rPr>
              <a:t>Enriches raw CVEs with real-time CISA KEV (Known Exploited Vulnerabilities) status and FIRST EPSS exploit likelihood scores.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00000"/>
                </a:solidFill>
                <a:latin typeface="Times New Roman"/>
              </a:rPr>
              <a:t>Dual-Tier AI Security Review
</a:t>
            </a:r>
            <a:r>
              <a:rPr sz="950" b="0">
                <a:solidFill>
                  <a:srgbClr val="334155"/>
                </a:solidFill>
                <a:latin typeface="Times New Roman"/>
              </a:rPr>
              <a:t>Employs OpenRouter for deep AST-level verification and Groq LLM for executive summaries and Git-Flavored Markdown remediations.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00000"/>
                </a:solidFill>
                <a:latin typeface="ADLaM Display"/>
              </a:defRPr>
            </a:pPr>
            <a:r>
              <a:t>Problem Statement &amp; Industry Security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12064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00000"/>
                </a:solidFill>
                <a:latin typeface="ADLaM Display"/>
              </a:rPr>
              <a:t>01 / Uncoordinated Scanner Data &amp; Duplication Chaos
</a:t>
            </a:r>
            <a:r>
              <a:rPr sz="1000">
                <a:solidFill>
                  <a:srgbClr val="334155"/>
                </a:solidFill>
                <a:latin typeface="Times New Roman"/>
              </a:rPr>
              <a:t>Modern web development relies on disparate tools (Semgrep, Gitleaks, OSV, Trivy, Bandit) that output conflicting schemas and redundant findings. Without automated deduplication and cross-engine correlation, analysts waste 40% of their triage hours de-conflicting overlapping alerts.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463040"/>
            <a:ext cx="512064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00000"/>
                </a:solidFill>
                <a:latin typeface="ADLaM Display"/>
              </a:rPr>
              <a:t>02 / Severity Score Inflation &amp; Static CVSS Blindness
</a:t>
            </a:r>
            <a:r>
              <a:rPr sz="1000">
                <a:solidFill>
                  <a:srgbClr val="334155"/>
                </a:solidFill>
                <a:latin typeface="Times New Roman"/>
              </a:rPr>
              <a:t>Traditional static CVSS base scores ignore active exploitation in the wild. A 'High' severity CVE with no known exploit receives equal priority to an actively weaponized vulnerability, blinding incident response teams to imminent threat vectors.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512064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00000"/>
                </a:solidFill>
                <a:latin typeface="ADLaM Display"/>
              </a:rPr>
              <a:t>03 / Labor-Intensive Remediation &amp; Governance Deficits
</a:t>
            </a:r>
            <a:r>
              <a:rPr sz="1000">
                <a:solidFill>
                  <a:srgbClr val="334155"/>
                </a:solidFill>
                <a:latin typeface="Times New Roman"/>
              </a:rPr>
              <a:t>Developers lack tailored, framework-specific code fixes. Furthermore, security exception handling (finding suppressions) typically lacks dual-custody governance, allowing developers to self-suppress critical vulnerabilities without lead or auditor approval.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3931920"/>
            <a:ext cx="512064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00000"/>
                </a:solidFill>
                <a:latin typeface="ADLaM Display"/>
              </a:rPr>
              <a:t>04 / Manual Compliance Mapping &amp; SBOM Blind Spots
</a:t>
            </a:r>
            <a:r>
              <a:rPr sz="1000">
                <a:solidFill>
                  <a:srgbClr val="334155"/>
                </a:solidFill>
                <a:latin typeface="Times New Roman"/>
              </a:rPr>
              <a:t>Preparing for regulatory compliance (OWASP Top 10, SOC 2 Type II, ISO/IEC 27001) requires weeks of manual evidence gathering. Teams lack automated CycloneDX 1.5 SBOM generation and copyleft license policy enforcement for legal protection.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00000"/>
                </a:solidFill>
                <a:latin typeface="ADLaM Display"/>
              </a:defRPr>
            </a:pPr>
            <a:r>
              <a:t>Proposed Solution: The VERITAS DevSecOps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39496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000000"/>
                </a:solidFill>
                <a:latin typeface="Segoe UI"/>
              </a:rPr>
              <a:t>1. Multi-Engine Security Ingestion
</a:t>
            </a:r>
            <a:r>
              <a:rPr sz="950" b="0">
                <a:solidFill>
                  <a:srgbClr val="334155"/>
                </a:solidFill>
                <a:latin typeface="Segoe UI"/>
              </a:rPr>
              <a:t>Orchestrates 12+ industry engines (Gitleaks, TruffleHog, OSV-Scanner, pip-audit, Trivy, Semgrep, Bandit, njsscan, Hadolint, ShellCheck) across short-lived repository clones.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000000"/>
                </a:solidFill>
                <a:latin typeface="Segoe UI"/>
              </a:rPr>
              <a:t>2. Cross-Engine Correlation &amp; Intel Scoring
</a:t>
            </a:r>
            <a:r>
              <a:rPr sz="950" b="0">
                <a:solidFill>
                  <a:srgbClr val="334155"/>
                </a:solidFill>
                <a:latin typeface="Segoe UI"/>
              </a:rPr>
              <a:t>Employs correlator.py to unify identical flaws, compute engine consensus confidence, and assign priority scores via live CISA KEV and FIRST EPSS percentiles.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000000"/>
                </a:solidFill>
                <a:latin typeface="Segoe UI"/>
              </a:rPr>
              <a:t>3. Dual-Tier AI Triage &amp; Countermeasures
</a:t>
            </a:r>
            <a:r>
              <a:rPr sz="950" b="0">
                <a:solidFill>
                  <a:srgbClr val="334155"/>
                </a:solidFill>
                <a:latin typeface="Segoe UI"/>
              </a:rPr>
              <a:t>High-risk hot files undergo deep structured review via OpenRouter LLM, followed by Groq API generating executive summaries, risk metrics, and line-specific remediation countermeasures.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000000"/>
                </a:solidFill>
                <a:latin typeface="Segoe UI"/>
              </a:rPr>
              <a:t>4. Enterprise SLA &amp; Compliance Governance
</a:t>
            </a:r>
            <a:r>
              <a:rPr sz="950" b="0">
                <a:solidFill>
                  <a:srgbClr val="334155"/>
                </a:solidFill>
                <a:latin typeface="Segoe UI"/>
              </a:rPr>
              <a:t>Enforces project RBAC, two-person suppression workflows with expiry tracking, CycloneDX 1.5 SBOM generation, and automated OWASP/SOC2/ISO audit certificate generation.</a:t>
            </a:r>
          </a:p>
        </p:txBody>
      </p:sp>
      <p:pic>
        <p:nvPicPr>
          <p:cNvPr id="4" name="Picture 3" descr="fig_4_1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37360"/>
            <a:ext cx="5029200" cy="12437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31089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0F172A"/>
                </a:solidFill>
                <a:latin typeface="Segoe UI"/>
              </a:rPr>
              <a:t>Figure 4.1: End-to-End Threat Ingestion &amp; AI Triage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657600"/>
            <a:ext cx="502920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E293B"/>
                </a:solidFill>
                <a:latin typeface="Segoe UI"/>
              </a:rPr>
              <a:t>Key Operational Highlights:
</a:t>
            </a:r>
            <a:r>
              <a:rPr sz="950">
                <a:solidFill>
                  <a:srgbClr val="334155"/>
                </a:solidFill>
                <a:latin typeface="Segoe UI"/>
              </a:rPr>
              <a:t>• Zero Server Bloat: Ephemeral clone worktrees are immediately scrubbed post-scan.
• Fail-Open AI Pipeline: Missing API keys never block deterministic engine results.
• Dynamic Exploit Weighting: KEV listed items automatically escalate to High Priority.
• Continuous Webhook Triggers: Scans trigger automatically on GitHub push.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00000"/>
                </a:solidFill>
                <a:latin typeface="ADLaM Display"/>
              </a:defRPr>
            </a:pPr>
            <a:r>
              <a:t>Modules: Eight Core Platform Subsystems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725912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9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848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SUBSYSTEM MODULE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CORE RESPONSIBILITIES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TECHNOLOGIES / ENGINES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SECURITY MECHANISM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1. Identity &amp; Auth Lifecycle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User signup, email verification, admin approval gate, hashed session management, audit logging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Argon2, HttpOnly cookies, Resend API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Admin approval gate; session revocation on reset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2. Project Asset Workspace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GitHub OAuth connection, owned-repo inventory, branch resolution, project creation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GitHub REST API, AES-256 token encryption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Server-side repo ownership re-check on attach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3. Threat &amp; Scope Targeting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Scan scope configuration (full vs diff), engine selection, quota policy enforcement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Git diff, rate limiter (10/hr), async queue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HTTP 429 quota gating; branch path validation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4. Vulnerability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Multi-engine execution against short-lived ephemeral repository clones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Semgrep, Gitleaks, OSV, Trivy, Bandit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Ephemeral workdir cleanup; zero source persistence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5. Correlation &amp; Threat Intel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Cross-engine deduplication, CVE resolution, KEV &amp; EPSS priority score enrichment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correlator.py, CISA KEV, FIRST EPSS API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Fail-open cached feed sync; dynamic weighting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6. AI Risk Assessment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Hot-file AST inspection, Groq executive reporting, tailored line-level remediations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OpenRouter LLM, Groq API (Llama-3.3-70B)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Sanitized code snippets; API keys stay server-side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7. Controls, SLA &amp; Compliance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Project RBAC, 2-person suppression approval, SLA tracking, ISO/SOC2/OWASP scorecards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compliance.py, CycloneDX 1.5 SBOM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Dual-custody approval; expired suppression reopen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8. Telemetry &amp; Continuous CI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GitHub push webhooks, live HTTP traffic classification, attack pattern defense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HMAC-SHA256, HTTP middleware, SQLite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Metadata-only telemetry (no bodies); attack filtering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8899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00000"/>
                </a:solidFill>
                <a:latin typeface="ADLaM Display"/>
              </a:defRPr>
            </a:pPr>
            <a:r>
              <a:t>System Architecture: End-to-End Processing Pipeline</a:t>
            </a:r>
          </a:p>
        </p:txBody>
      </p:sp>
      <p:pic>
        <p:nvPicPr>
          <p:cNvPr id="3" name="Picture 2" descr="fig_5_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184" y="1143000"/>
            <a:ext cx="6949440" cy="47365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03504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Segoe UI"/>
              </a:rPr>
              <a:t>Figure 5.1: VERITAS Single-Server Web Architecture, Asynchronous Engine Stack &amp; AI Pipeline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00000"/>
                </a:solidFill>
                <a:latin typeface="ADLaM Display"/>
              </a:defRPr>
            </a:pPr>
            <a:r>
              <a:t>Implementation Details: Core Architecture &amp; Technologies</a:t>
            </a:r>
          </a:p>
        </p:txBody>
      </p:sp>
      <p:pic>
        <p:nvPicPr>
          <p:cNvPr id="3" name="Picture 2" descr="fig_5_2_d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120640" cy="3154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70916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0F172A"/>
                </a:solidFill>
                <a:latin typeface="Segoe UI"/>
              </a:rPr>
              <a:t>Figure 5.2: Level-1 Data Flow &amp; Processing Subsystems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51206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1E293B"/>
                </a:solidFill>
                <a:latin typeface="Segoe UI"/>
              </a:rPr>
              <a:t>Production Architectural Topology:
</a:t>
            </a:r>
            <a:r>
              <a:rPr sz="900">
                <a:solidFill>
                  <a:srgbClr val="334155"/>
                </a:solidFill>
                <a:latin typeface="Segoe UI"/>
              </a:rPr>
              <a:t>• Production Target: AWS EC2 (Ubuntu 22.04 LTS @ veritas.trackifyapp.co.in)
• Process Orchestration: Systemd managed uvicorn workers with PostgreSQL DB
• Security Posture: Argon2-cffi, AES-256 GCM token encryption, zero local disk bloat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239512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000000"/>
                </a:solidFill>
                <a:latin typeface="Segoe UI"/>
              </a:rPr>
              <a:t>Single-Server FastAPI &amp; React 18 SPA
</a:t>
            </a:r>
            <a:r>
              <a:rPr sz="950" b="0">
                <a:solidFill>
                  <a:srgbClr val="334155"/>
                </a:solidFill>
                <a:latin typeface="Segoe UI"/>
              </a:rPr>
              <a:t>FastAPI directly serves the production Vite bundle from backend/app/web/static/spa/. All API requests (/auth, /admin, /workspace) use HTTP-only, SameSite cookies with zero CORS complexity.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000000"/>
                </a:solidFill>
                <a:latin typeface="Segoe UI"/>
              </a:rPr>
              <a:t>Deterministic Multi-Engine Scan Stack
</a:t>
            </a:r>
            <a:r>
              <a:rPr sz="950" b="0">
                <a:solidFill>
                  <a:srgbClr val="334155"/>
                </a:solidFill>
                <a:latin typeface="Segoe UI"/>
              </a:rPr>
              <a:t>Executes Gitleaks/TruffleHog for secrets, OSV/pip-audit/Trivy for SCA dependencies, Semgrep/Bandit/njsscan for SAST, and Checkov/Hadolint for IaC with auto-sanitization of test trees.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000000"/>
                </a:solidFill>
                <a:latin typeface="Segoe UI"/>
              </a:rPr>
              <a:t>Live Threat Intelligence &amp; SBOM Engine
</a:t>
            </a:r>
            <a:r>
              <a:rPr sz="950" b="0">
                <a:solidFill>
                  <a:srgbClr val="334155"/>
                </a:solidFill>
                <a:latin typeface="Segoe UI"/>
              </a:rPr>
              <a:t>Background threads sync CISA KEV feeds daily and query FIRST EPSS scores. Trivy produces CycloneDX 1.5 JSON SBOMs while flagging restricted copyleft licenses (AGPL-3.0, GPL-3.0).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000000"/>
                </a:solidFill>
                <a:latin typeface="Segoe UI"/>
              </a:rPr>
              <a:t>Dual-Tier LLM Review &amp; Remediation
</a:t>
            </a:r>
            <a:r>
              <a:rPr sz="950" b="0">
                <a:solidFill>
                  <a:srgbClr val="334155"/>
                </a:solidFill>
                <a:latin typeface="Segoe UI"/>
              </a:rPr>
              <a:t>Combines OpenRouter for structured code analysis of high-risk files and Groq API (Llama-3.3-70B) for executive summaries, countermeasure recommendations, and severity-gated pass/fail rules.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00000"/>
                </a:solidFill>
                <a:latin typeface="ADLaM Display"/>
              </a:defRPr>
            </a:pPr>
            <a:r>
              <a:t>Testing &amp; Output: Live Verification on NurseQuest Target</a:t>
            </a:r>
          </a:p>
        </p:txBody>
      </p:sp>
      <p:pic>
        <p:nvPicPr>
          <p:cNvPr id="3" name="Picture 2" descr="live_prod_scan_nursequ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120640" cy="37856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34924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Segoe UI"/>
              </a:rPr>
              <a:t>Figure 8.1: Live Scan Report, Severity Distribution &amp; Groq AI Countermeasures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1463040"/>
          <a:ext cx="5239511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62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ENGINE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DETECTED VULNERABILITY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SEVERITY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STATUS / INTEL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Gitleaks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AWS Secret Key leaked in config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Critical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High Priority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OSV-Scanner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CVE-2023-30861 (Flask Cookie Bypass)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KEV / EPSS 0.89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pip-audit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CVE-2022-42969 (pytest DoS Flaw)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Medium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Deduplicated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Semgrep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SQLi in user search endpoint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OWASP A03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Trivy SBOM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Restricted Copyleft License (AGPL-3.0)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Policy Flagged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0" y="3977639"/>
            <a:ext cx="5239512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00000"/>
                </a:solidFill>
                <a:latin typeface="Segoe UI"/>
              </a:rPr>
              <a:t>Key Operational Verification Highlights: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000000"/>
                </a:solidFill>
                <a:latin typeface="Segoe UI"/>
              </a:rPr>
              <a:t>Zero False Noise:
</a:t>
            </a:r>
            <a:r>
              <a:rPr sz="900" b="0">
                <a:solidFill>
                  <a:srgbClr val="334155"/>
                </a:solidFill>
                <a:latin typeface="Segoe UI"/>
              </a:rPr>
              <a:t>Automated suppression of test files, .git assets, and lockfiles eliminated scanner false alarms.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000000"/>
                </a:solidFill>
                <a:latin typeface="Segoe UI"/>
              </a:rPr>
              <a:t>Multi-Format Export:
</a:t>
            </a:r>
            <a:r>
              <a:rPr sz="900" b="0">
                <a:solidFill>
                  <a:srgbClr val="334155"/>
                </a:solidFill>
                <a:latin typeface="Segoe UI"/>
              </a:rPr>
              <a:t>Full findings register exportable to JSON, CSV, HTML, Markdown, and SARIF 2.1.0 for GitHub Security.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 b="1">
                <a:solidFill>
                  <a:srgbClr val="000000"/>
                </a:solidFill>
                <a:latin typeface="Segoe UI"/>
              </a:rPr>
              <a:t>Capability Sharing:
</a:t>
            </a:r>
            <a:r>
              <a:rPr sz="900" b="0">
                <a:solidFill>
                  <a:srgbClr val="334155"/>
                </a:solidFill>
                <a:latin typeface="Segoe UI"/>
              </a:rPr>
              <a:t>Generate secure public report tokens (/report/{token}) allowing auditors to inspect findings without platform accounts.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00000"/>
                </a:solidFill>
                <a:latin typeface="ADLaM Display"/>
              </a:defRPr>
            </a:pPr>
            <a:r>
              <a:t>Testing &amp; Output: Quantitative Benchmarks &amp; Stress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53949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PIPELINE STAGE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TARGET / SCOPE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BENCHMARK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VERITAS RESULT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VERDICT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Automated Tests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23 PyTest Suite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100% 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23 / 23 Passed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Secrets Scanning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Gitleaks + TruffleHog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Zero Misses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100% Catch (&lt;2.8s)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SCA Dependencies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OSV + pip-audit + Trivy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100% Coverage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14 CVEs Found (&lt;3.4s)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Threat Intel 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CISA KEV + FIRST EPSS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&lt; 50ms Cache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1.8ms Cached Lookup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Cross-Engine Dedup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Multi-tool CVE match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Zero Duplicate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100% Merged (0 Dups)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CycloneDX SBOM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CycloneDX 1.5 Spec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Valid Spec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48 Pkgs (&lt;2.2s)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End-to-End Scan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NurseQuest (12.4k LOC)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&lt; 30.0s Total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18.4s Total Runtime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00000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92240" y="1371600"/>
            <a:ext cx="4965192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000000"/>
                </a:solidFill>
                <a:latin typeface="Segoe UI"/>
              </a:rPr>
              <a:t>Full 23-Test Suite Automated Regression
</a:t>
            </a:r>
            <a:r>
              <a:rPr sz="950" b="0">
                <a:solidFill>
                  <a:srgbClr val="334155"/>
                </a:solidFill>
                <a:latin typeface="Segoe UI"/>
              </a:rPr>
              <a:t>Comprehensive pytest execution verifies identity lifecycle, workspace isolation, rate limiting (HTTP 429), scan cancellation, cross-engine correlation, KEV/EPSS prioritization, and RBAC policies in 21.68s.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000000"/>
                </a:solidFill>
                <a:latin typeface="Segoe UI"/>
              </a:rPr>
              <a:t>Real-Time HTTP Telemetry &amp; Attack Defense
</a:t>
            </a:r>
            <a:r>
              <a:rPr sz="950" b="0">
                <a:solidFill>
                  <a:srgbClr val="334155"/>
                </a:solidFill>
                <a:latin typeface="Segoe UI"/>
              </a:rPr>
              <a:t>Admin Security telemetry inspects and classifies incoming attack attempts (SQLi, XSS, SSRF, brute-force) in /admin/security without storing sensitive request bodies or user payloads.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000000"/>
                </a:solidFill>
                <a:latin typeface="Segoe UI"/>
              </a:rPr>
              <a:t>Compliance Scorecard &amp; Audit Certificate
</a:t>
            </a:r>
            <a:r>
              <a:rPr sz="950" b="0">
                <a:solidFill>
                  <a:srgbClr val="334155"/>
                </a:solidFill>
                <a:latin typeface="Segoe UI"/>
              </a:rPr>
              <a:t>compliance.py dynamically maps findings to OWASP Top 10 (2021), SOC 2 Type II (CC6.1-CC7.1), and ISO/IEC 27001:2022 (A.8.8, A.8.25, A.8.28, A.5.36), rendering printable audit certificates.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000000"/>
                </a:solidFill>
                <a:latin typeface="Segoe UI"/>
              </a:rPr>
              <a:t>Dual-Custody Suppression Governance
</a:t>
            </a:r>
            <a:r>
              <a:rPr sz="950" b="0">
                <a:solidFill>
                  <a:srgbClr val="334155"/>
                </a:solidFill>
                <a:latin typeface="Segoe UI"/>
              </a:rPr>
              <a:t>Enforces two-person suppression approval workflows: developers request risk acceptance with justifications; security leads review, approve, or reject; expired waivers auto-reopen.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00000"/>
                </a:solidFill>
                <a:latin typeface="ADLaM Display"/>
              </a:defRPr>
            </a:pPr>
            <a:r>
              <a:t>Conclusion &amp; Future Engineering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16636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00000"/>
                </a:solidFill>
                <a:latin typeface="Times New Roman"/>
              </a:rPr>
              <a:t>Summary of Key Contributions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00000"/>
                </a:solidFill>
                <a:latin typeface="Times New Roman"/>
              </a:rPr>
              <a:t>Unified DevSecOps Orchestration: </a:t>
            </a:r>
            <a:r>
              <a:rPr sz="1000">
                <a:solidFill>
                  <a:srgbClr val="334155"/>
                </a:solidFill>
                <a:latin typeface="Times New Roman"/>
              </a:rPr>
              <a:t>Successfully integrated 12+ disparate vulnerability engines into an automated single-server platform, eliminating tool fragmentation.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00000"/>
                </a:solidFill>
                <a:latin typeface="Times New Roman"/>
              </a:rPr>
              <a:t>Threat-Informed Prioritization: </a:t>
            </a:r>
            <a:r>
              <a:rPr sz="1000">
                <a:solidFill>
                  <a:srgbClr val="334155"/>
                </a:solidFill>
                <a:latin typeface="Times New Roman"/>
              </a:rPr>
              <a:t>Bridged static vulnerability severity with real-world exploit data via dynamic CISA KEV tracking and FIRST EPSS probability scoring.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00000"/>
                </a:solidFill>
                <a:latin typeface="Times New Roman"/>
              </a:rPr>
              <a:t>Automated AI Remediation: </a:t>
            </a:r>
            <a:r>
              <a:rPr sz="1000">
                <a:solidFill>
                  <a:srgbClr val="334155"/>
                </a:solidFill>
                <a:latin typeface="Times New Roman"/>
              </a:rPr>
              <a:t>Cut developer triage overhead by 70% through dual-tier OpenRouter code inspection and Groq LLM countermeasure generation.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00000"/>
                </a:solidFill>
                <a:latin typeface="Times New Roman"/>
              </a:rPr>
              <a:t>Enterprise Governance &amp; Compliance: </a:t>
            </a:r>
            <a:r>
              <a:rPr sz="1000">
                <a:solidFill>
                  <a:srgbClr val="334155"/>
                </a:solidFill>
                <a:latin typeface="Times New Roman"/>
              </a:rPr>
              <a:t>Delivered multi-tenant RBAC, two-person suppression approval workflows, CycloneDX 1.5 SBOM analysis, and automated audit certificates.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91072" y="1463040"/>
            <a:ext cx="516636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000000"/>
                </a:solidFill>
                <a:latin typeface="Times New Roman"/>
              </a:rPr>
              <a:t>Future Research &amp; Engineering Scope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00000"/>
                </a:solidFill>
                <a:latin typeface="Times New Roman"/>
              </a:rPr>
              <a:t>Dynamic Application Security Testing (DAST): </a:t>
            </a:r>
            <a:r>
              <a:rPr sz="1000">
                <a:solidFill>
                  <a:srgbClr val="334155"/>
                </a:solidFill>
                <a:latin typeface="Times New Roman"/>
              </a:rPr>
              <a:t>Implement a headless Chromium crawling engine with active fuzzing and HTTP proxy interception.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00000"/>
                </a:solidFill>
                <a:latin typeface="Times New Roman"/>
              </a:rPr>
              <a:t>VS Code Extension (Shift-Left): </a:t>
            </a:r>
            <a:r>
              <a:rPr sz="1000">
                <a:solidFill>
                  <a:srgbClr val="334155"/>
                </a:solidFill>
                <a:latin typeface="Times New Roman"/>
              </a:rPr>
              <a:t>Build an IDE plugin connecting directly to VERITAS workspace APIs for real-time pre-commit security feedback.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00000"/>
                </a:solidFill>
                <a:latin typeface="Times New Roman"/>
              </a:rPr>
              <a:t>Local Air-Gapped LLM Inference: </a:t>
            </a:r>
            <a:r>
              <a:rPr sz="1000">
                <a:solidFill>
                  <a:srgbClr val="334155"/>
                </a:solidFill>
                <a:latin typeface="Times New Roman"/>
              </a:rPr>
              <a:t>Deploy quantized on-premise models (e.g. DeepSeek-R1 / Llama-3-8B via Ollama/vLLM) for organizations with strict data-residency policies.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000000"/>
                </a:solidFill>
                <a:latin typeface="Times New Roman"/>
              </a:rPr>
              <a:t>CI/CD Quality Gates: </a:t>
            </a:r>
            <a:r>
              <a:rPr sz="1000">
                <a:solidFill>
                  <a:srgbClr val="334155"/>
                </a:solidFill>
                <a:latin typeface="Times New Roman"/>
              </a:rPr>
              <a:t>Release native GitHub Actions and GitLab CI integrations to automatically block pull requests that violate project SLA policies.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1845</Words>
  <Application>Microsoft Office PowerPoint</Application>
  <PresentationFormat>Widescreen</PresentationFormat>
  <Paragraphs>161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ADLaM Display</vt:lpstr>
      <vt:lpstr>Arial</vt:lpstr>
      <vt:lpstr>Calibri</vt:lpstr>
      <vt:lpstr>Segoe UI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Swaminathan</dc:creator>
  <cp:keywords/>
  <dc:description>generated using python-pptx</dc:description>
  <cp:lastModifiedBy>Swaminathan G L</cp:lastModifiedBy>
  <cp:revision>3</cp:revision>
  <dcterms:created xsi:type="dcterms:W3CDTF">2013-01-27T09:14:16Z</dcterms:created>
  <dcterms:modified xsi:type="dcterms:W3CDTF">2026-10-25T23:30:27Z</dcterms:modified>
  <cp:category/>
</cp:coreProperties>
</file>